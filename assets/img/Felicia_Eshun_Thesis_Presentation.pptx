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0" r:id="rId6"/>
    <p:sldId id="263" r:id="rId7"/>
    <p:sldId id="264" r:id="rId8"/>
    <p:sldId id="265" r:id="rId9"/>
    <p:sldId id="266" r:id="rId10"/>
    <p:sldId id="270" r:id="rId18"/>
    <p:sldId id="271" r:id="rId19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A9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7"/>
    <p:restoredTop sz="94694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4D2C-3A9C-8C01-763D-78B8DE940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F5E98-CF2B-F4AF-2081-1FC5AC283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00E62-835F-831B-C200-C5FAD89C2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9C77E-F315-CAA5-166C-9C68E9F52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EA55D-2B2A-08AE-DF09-75313859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0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CA64-936F-26B7-12D4-0FEF79A5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52F93-085D-5453-2633-360678B98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3C860-312C-CD41-037E-7E6E780F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34D65-B3FF-36E4-35B2-4BD33D09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F446D-A221-D55D-15BA-80FB7B37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5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2E89-3982-08BB-2382-EC6B27DF2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31613-8A66-41D6-4303-88DC98504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F9297-AE7C-4524-B706-790E3C35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1C70C-0063-B465-2752-A6AD7482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1887A-8F95-233F-BBC5-E8AE09D2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8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26D6-AFE8-3DCE-2E5A-87AB3F15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26759-987F-8E52-1963-393951BD6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10824-21D1-D031-474D-7F713D8B1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CCE14-974F-16A7-B35B-EF95FD86F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F842D-13E4-B68F-CA81-3779539D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EDB6B-359B-EDA8-7655-0675F1DA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49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1E60-4FFB-2D71-4E0B-000DD200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96B1F-966A-EC79-DF0F-277E46976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974BB-E488-51CB-EC48-D4E74D5AF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FCD81-4DF6-DE57-E9FE-602072AE7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4DB557-FC17-B25C-393D-1497C9605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0F867-02D4-6925-3419-094D36D5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AF7D8-F979-7200-DAC3-504279F7C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FE13B-DF33-0806-C9C3-F6C0D4FA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1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EB97-5857-B1C9-0D3B-5786B7AA5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A454F-7F2F-F1AD-6B3A-F94EDB68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EA636-A772-4943-08FA-AC0324F4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EF4D4-2B83-A3AC-4C7E-32CB26D5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7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BB35D-66E7-A713-1980-97B646EB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6C3B8-291F-B648-D3A4-3FB47D3F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1FB2-6EA0-5E01-7E5D-8BA0AD00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DD9E-02F5-7E45-799F-80B8F682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4236-5019-D37E-5168-B413CF279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BD7DB-A2CD-D633-A42C-634F4EF46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1ED0C-A998-E052-1C8A-C3D8C853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22F1B-71A8-B5BA-670C-9DAB02436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E029-0A55-9321-2D33-687B3BFF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1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69E25-E121-3428-9DF0-7C7BE5B1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631A2-CE2A-741C-637D-2D4216EBC6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D1DEB-25F1-88C5-E192-8589FC2C1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B51C9-5E1E-0B3B-0E2C-8D119E2E3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E5ADD-4E4D-5E1E-0EEB-4C77F74D2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1FB8A-299B-231A-8C1B-C05EB779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01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0E33-8B72-26DF-7C9E-38625D9EB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DDCD1-3565-63E5-4A5E-01D208D8A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6F422-F295-1CD3-3AD4-90047580C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AB210-5213-12CC-37D5-38D4B3A3E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9F122-5B8E-B807-AE18-62D53670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3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DCE43-0E42-361F-A887-4F5787189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B930C-0D24-BC2C-5BEB-48F84D12C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7E2D5-25C1-73FF-E929-ADFCAAE5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6A23B-15F5-06E4-464C-4F2709D5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63731-66A2-170D-D332-C71B8AB3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0472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FC372E-F12F-B912-7A1F-905D4D83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6B644-D880-515A-0148-EE14526AD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FF2AC-EC2F-01C5-1123-92C84EA9D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92BEC-61AD-FA4F-8D6A-EC2F499F5A85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9CBAA-D84F-49CE-6B22-E8CCA2BEC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5EFE0-771D-FEF9-B3DB-9F979B1E5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3926C-560D-3645-BE32-4686709E1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9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11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7CBE-DD12-413E-519A-C0EBE3486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289964-86B8-4200-BFF2-94547A0225A3}"/>
              </a:ext>
            </a:extLst>
          </p:cNvPr>
          <p:cNvSpPr txBox="1"/>
          <p:nvPr/>
        </p:nvSpPr>
        <p:spPr>
          <a:xfrm>
            <a:off x="1537063" y="2008328"/>
            <a:ext cx="9642881" cy="230832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D2A967"/>
                </a:solidFill>
              </a:rPr>
              <a:t>GHANA’S CONTRIBUTION TO UN PEACEKEEPING</a:t>
            </a:r>
          </a:p>
          <a:p>
            <a:pPr algn="ctr"/>
            <a:r>
              <a:rPr lang="en-US" sz="2000" b="1" i="1" dirty="0">
                <a:solidFill>
                  <a:srgbClr val="D2A967"/>
                </a:solidFill>
              </a:rPr>
              <a:t>Motivations and Implications for National Security</a:t>
            </a:r>
          </a:p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2600" b="1" dirty="0">
                <a:solidFill>
                  <a:schemeClr val="bg1"/>
                </a:solidFill>
              </a:rPr>
              <a:t>FELICIA ESHUN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MSc International Relations  |  MIR0425073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Supervisor: Dr. Desmond Tweneboah-Koduah</a:t>
            </a:r>
          </a:p>
        </p:txBody>
      </p:sp>
    </p:spTree>
    <p:extLst>
      <p:ext uri="{BB962C8B-B14F-4D97-AF65-F5344CB8AC3E}">
        <p14:creationId xmlns:p14="http://schemas.microsoft.com/office/powerpoint/2010/main" val="248440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0A30-B149-4F05-881E-F8CDFBD3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4900" b="1" dirty="0"/>
            </a:br>
            <a:r>
              <a:rPr lang="en-US" sz="4900" b="1" dirty="0"/>
              <a:t>INTRODUCTION: BRIEF BACKGROUND</a:t>
            </a:r>
            <a:br>
              <a:rPr lang="en-US" sz="4400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B555D-74A7-4B74-86DF-A03E7999F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 member since 1957; first major deployment to ONUC (Congo) in 1960.</a:t>
            </a:r>
          </a:p>
          <a:p>
            <a:r>
              <a:rPr lang="en-US" dirty="0"/>
              <a:t>Today among the world’s leading troop-contributing countries.</a:t>
            </a:r>
          </a:p>
          <a:p>
            <a:r>
              <a:rPr lang="en-US" dirty="0"/>
              <a:t>Commitment rooted in Pan-African ideology and collective security.</a:t>
            </a:r>
          </a:p>
          <a:p>
            <a:r>
              <a:rPr lang="en-US" dirty="0"/>
              <a:t>Yields diplomatic prestige, professional exposure and UN financial reimbursements.</a:t>
            </a:r>
          </a:p>
          <a:p>
            <a:r>
              <a:rPr lang="en-US" dirty="0"/>
              <a:t>Set against rising threats: Sahelian extremism, Gulf of Guinea insecurity and transnational crime.</a:t>
            </a:r>
          </a:p>
        </p:txBody>
      </p:sp>
    </p:spTree>
    <p:extLst>
      <p:ext uri="{BB962C8B-B14F-4D97-AF65-F5344CB8AC3E}">
        <p14:creationId xmlns:p14="http://schemas.microsoft.com/office/powerpoint/2010/main" val="84568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0A30-B149-4F05-881E-F8CDFBD3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5400" b="1" dirty="0"/>
            </a:br>
            <a:r>
              <a:rPr lang="en-US" sz="5400" b="1" dirty="0"/>
              <a:t>PROBLEM STATEMENT</a:t>
            </a:r>
            <a:br>
              <a:rPr lang="en-US" sz="4400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B555D-74A7-4B74-86DF-A03E7999F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Ghana is a top troop contributor, yet the security implications are under-researched.</a:t>
            </a:r>
          </a:p>
          <a:p>
            <a:r>
              <a:rPr lang="en-US" dirty="0"/>
              <a:t>Existing studies treat economic and career benefits in isolation from national security.</a:t>
            </a:r>
          </a:p>
          <a:p>
            <a:r>
              <a:rPr lang="en-US" dirty="0"/>
              <a:t>Sustained deployments may thin domestic forces, exposing borders and internal security gaps.</a:t>
            </a:r>
          </a:p>
          <a:p>
            <a:r>
              <a:rPr lang="en-US" dirty="0"/>
              <a:t>Little empirical work asks whether peacekeeping strengthens or undermines security.</a:t>
            </a:r>
          </a:p>
          <a:p>
            <a:r>
              <a:rPr lang="en-US" dirty="0"/>
              <a:t>This study addresses that gap: motivations versus national security implications.</a:t>
            </a:r>
          </a:p>
        </p:txBody>
      </p:sp>
    </p:spTree>
    <p:extLst>
      <p:ext uri="{BB962C8B-B14F-4D97-AF65-F5344CB8AC3E}">
        <p14:creationId xmlns:p14="http://schemas.microsoft.com/office/powerpoint/2010/main" val="2550640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6DBE9C-6006-48E0-B6A4-94381E2B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RESEARCH OBJECTIVES              RESEARCH QUESTIONS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2EF6D0-588B-470C-802B-DEF5B2BC25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Examine the historical, political, economic and institutional drivers of Ghana’s participation (1957–present).</a:t>
            </a:r>
          </a:p>
          <a:p>
            <a:r>
              <a:rPr lang="en-US" dirty="0"/>
              <a:t>Explore effects on the operational readiness, capacity and resource allocation of the GAF.</a:t>
            </a:r>
          </a:p>
          <a:p>
            <a:r>
              <a:rPr lang="en-US" dirty="0"/>
              <a:t>Assess implications for national security — internal security, border management and emerging threats.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CCD84-3AE7-41F6-B837-C462448977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factors have shaped Ghana’s sustained participation in UN peacekeeping?</a:t>
            </a:r>
          </a:p>
          <a:p>
            <a:r>
              <a:rPr lang="en-US" dirty="0"/>
              <a:t>How has participation affected the readiness, capacity and resources of its forces?</a:t>
            </a:r>
          </a:p>
          <a:p>
            <a:r>
              <a:rPr lang="en-US" dirty="0"/>
              <a:t>What implications do these commitments have for national security and emerging threats?</a:t>
            </a:r>
          </a:p>
        </p:txBody>
      </p:sp>
    </p:spTree>
    <p:extLst>
      <p:ext uri="{BB962C8B-B14F-4D97-AF65-F5344CB8AC3E}">
        <p14:creationId xmlns:p14="http://schemas.microsoft.com/office/powerpoint/2010/main" val="1495877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6DBE9C-6006-48E0-B6A4-94381E2B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SIGNIFICANCE OF STUDY              LIMITATION OF STUDY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2EF6D0-588B-470C-802B-DEF5B2BC25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Fills a theoretical gap linking state motivations to internal security.</a:t>
            </a:r>
          </a:p>
          <a:p>
            <a:r>
              <a:rPr lang="en-US" dirty="0"/>
              <a:t>Adds an African perspective on security governance.</a:t>
            </a:r>
          </a:p>
          <a:p>
            <a:r>
              <a:rPr lang="en-US" dirty="0"/>
              <a:t>Informs the Ministry of Defence: does peacekeeping complement or constrain security?</a:t>
            </a:r>
          </a:p>
          <a:p>
            <a:r>
              <a:rPr lang="en-US" dirty="0"/>
              <a:t>Supports evidence-based deployment, budgeting and border planning.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CCD84-3AE7-41F6-B837-C462448977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Qualitative; 10 participants — not statistically generalisable.</a:t>
            </a:r>
          </a:p>
          <a:p>
            <a:r>
              <a:rPr lang="en-US" dirty="0"/>
              <a:t>Access constraints around sensitive and classified operational matters.</a:t>
            </a:r>
          </a:p>
          <a:p>
            <a:r>
              <a:rPr lang="en-US" dirty="0"/>
              <a:t>Focuses on domestic security dynamics, not mission-level tactical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703643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6DBE9C-6006-48E0-B6A4-94381E2B4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 xml:space="preserve">LITERATURE REVIEW THEORETICAL/CONCEPTUAL FRAMEWORK </a:t>
            </a:r>
            <a:endParaRPr lang="en-US" sz="36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43878-408F-4377-878E-E8A4E1A88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sz="7400" dirty="0"/>
          </a:p>
          <a:p>
            <a:r>
              <a:rPr lang="en-US" sz="7400" dirty="0"/>
              <a:t>LITERATURE REVIEW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5018C-7068-4447-BEFA-2370786821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Motivations span historical/Pan-African, political, economic and diplomatic drivers.</a:t>
            </a:r>
          </a:p>
          <a:p>
            <a:r>
              <a:rPr lang="en-US" dirty="0"/>
              <a:t>Peacekeeping builds professionalisation and institutional capacity.</a:t>
            </a:r>
          </a:p>
          <a:p>
            <a:r>
              <a:rPr lang="en-US" dirty="0"/>
              <a:t>Yet extended deployment strains readiness, resources and personnel welfare.</a:t>
            </a:r>
          </a:p>
          <a:p>
            <a:r>
              <a:rPr lang="en-US" dirty="0"/>
              <a:t>Gap: motivations rarely linked to domestic security outcomes.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5E3ED2-8F54-4C31-BB8A-1D73A0A9D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25000" lnSpcReduction="20000"/>
          </a:bodyPr>
          <a:lstStyle/>
          <a:p>
            <a:pPr algn="ctr"/>
            <a:endParaRPr lang="en-US" dirty="0"/>
          </a:p>
          <a:p>
            <a:pPr algn="ctr"/>
            <a:endParaRPr lang="en-US" sz="4400" dirty="0"/>
          </a:p>
          <a:p>
            <a:pPr algn="ctr"/>
            <a:r>
              <a:rPr lang="en-US" sz="7400" dirty="0"/>
              <a:t>THEORETICAL/CONCEPTUAL FRAMEWORK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9C391B3-511D-4298-BBBD-14708122B0B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Neorealism (Waltz, 1979): an anarchic system of rational, security-seeking states.</a:t>
            </a:r>
          </a:p>
          <a:p>
            <a:r>
              <a:rPr lang="en-US" dirty="0"/>
              <a:t>Peacekeeping framed as a strategic bid for power, status and alliances.</a:t>
            </a:r>
          </a:p>
          <a:p>
            <a:r>
              <a:rPr lang="en-US" dirty="0"/>
              <a:t>Captures the trade-off between international engagement and domestic security.</a:t>
            </a:r>
          </a:p>
          <a:p>
            <a:r>
              <a:rPr lang="en-US" dirty="0"/>
              <a:t>Bridges foreign-policy motivation and national-security outcomes.</a:t>
            </a:r>
          </a:p>
        </p:txBody>
      </p:sp>
    </p:spTree>
    <p:extLst>
      <p:ext uri="{BB962C8B-B14F-4D97-AF65-F5344CB8AC3E}">
        <p14:creationId xmlns:p14="http://schemas.microsoft.com/office/powerpoint/2010/main" val="2109652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710267-823B-45E7-B35A-F1FDCCD1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DESIGN AND METHODOLOGY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F3EB4-3D84-4EB0-8E21-F7818F2A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 xml:space="preserve">Design: </a:t>
            </a:r>
            <a:r>
              <a:rPr lang="en-US" dirty="0"/>
              <a:t>Qualitative case study of Ghana.</a:t>
            </a:r>
          </a:p>
          <a:p>
            <a:r>
              <a:rPr lang="en-US" b="1" dirty="0"/>
              <a:t xml:space="preserve">Approach: </a:t>
            </a:r>
            <a:r>
              <a:rPr lang="en-US" dirty="0"/>
              <a:t>Qualitative.</a:t>
            </a:r>
          </a:p>
          <a:p>
            <a:r>
              <a:rPr lang="en-US" b="1" dirty="0"/>
              <a:t xml:space="preserve">Method: </a:t>
            </a:r>
            <a:r>
              <a:rPr lang="en-US" dirty="0"/>
              <a:t>Semi-structured interviews with secondary sources (triangulation).</a:t>
            </a:r>
          </a:p>
          <a:p>
            <a:r>
              <a:rPr lang="en-US" b="1" dirty="0"/>
              <a:t xml:space="preserve">Population: </a:t>
            </a:r>
            <a:r>
              <a:rPr lang="en-US" dirty="0"/>
              <a:t>Ghana Armed Forces personnel with peacekeeping experience.</a:t>
            </a:r>
          </a:p>
          <a:p>
            <a:r>
              <a:rPr lang="en-US" b="1" dirty="0"/>
              <a:t xml:space="preserve">Sample &amp; sampling: </a:t>
            </a:r>
            <a:r>
              <a:rPr lang="en-US" dirty="0"/>
              <a:t>10 participants; purposive sampling.</a:t>
            </a:r>
          </a:p>
          <a:p>
            <a:r>
              <a:rPr lang="en-US" b="1" dirty="0"/>
              <a:t xml:space="preserve">Data analysis: </a:t>
            </a:r>
            <a:r>
              <a:rPr lang="en-US" dirty="0"/>
              <a:t>Thematic analysis (Braun &amp; Clarke).</a:t>
            </a:r>
          </a:p>
          <a:p>
            <a:r>
              <a:rPr lang="en-US" b="1" dirty="0"/>
              <a:t xml:space="preserve">Ethics: </a:t>
            </a:r>
            <a:r>
              <a:rPr lang="en-US" dirty="0"/>
              <a:t>Informed consent, confidentiality and voluntary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218702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710267-823B-45E7-B35A-F1FDCCD1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FINDINGS (1/3): MOTIVATIONS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F3EB4-3D84-4EB0-8E21-F7818F2A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 xml:space="preserve">Institutional legacy &amp; political commitment </a:t>
            </a:r>
            <a:r>
              <a:rPr lang="en-US" dirty="0"/>
              <a:t>— institutionalised since ONUC (1960); a national obligation sustained across governments.</a:t>
            </a:r>
          </a:p>
          <a:p>
            <a:r>
              <a:rPr lang="en-US" b="1" dirty="0"/>
              <a:t xml:space="preserve">Economic &amp; financial incentives </a:t>
            </a:r>
            <a:r>
              <a:rPr lang="en-US" dirty="0"/>
              <a:t>— UN allowances and reimbursements supplement a constrained defence budget and boost welfare.</a:t>
            </a:r>
          </a:p>
          <a:p>
            <a:r>
              <a:rPr lang="en-US" b="1" dirty="0"/>
              <a:t xml:space="preserve">Diplomatic identity &amp; strategic positioning </a:t>
            </a:r>
            <a:r>
              <a:rPr lang="en-US" dirty="0"/>
              <a:t>— elevates Ghana’s profile in the UN, AU and ECOWAS; soft power beyond material strength.</a:t>
            </a:r>
          </a:p>
        </p:txBody>
      </p:sp>
    </p:spTree>
    <p:extLst>
      <p:ext uri="{BB962C8B-B14F-4D97-AF65-F5344CB8AC3E}">
        <p14:creationId xmlns:p14="http://schemas.microsoft.com/office/powerpoint/2010/main" val="101377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710267-823B-45E7-B35A-F1FDCCD1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 xml:space="preserve"> CONCLUSION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F3EB4-3D84-4EB0-8E21-F7818F2A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Participation is driven by mutually reinforcing historical, political, economic and institutional factors.</a:t>
            </a:r>
          </a:p>
          <a:p>
            <a:r>
              <a:rPr lang="en-US" dirty="0"/>
              <a:t>Effects on readiness are dual: real capacity gains alongside manpower and resource gaps.</a:t>
            </a:r>
          </a:p>
          <a:p>
            <a:r>
              <a:rPr lang="en-US" dirty="0"/>
              <a:t>The national-security impact is neither wholly positive nor negative — it hinges on strategic management.</a:t>
            </a:r>
          </a:p>
          <a:p>
            <a:r>
              <a:rPr lang="en-US" dirty="0"/>
              <a:t>Strategically justifiable if matched by force expansion, equipment modernisation and integrated planning.</a:t>
            </a:r>
          </a:p>
        </p:txBody>
      </p:sp>
    </p:spTree>
    <p:extLst>
      <p:ext uri="{BB962C8B-B14F-4D97-AF65-F5344CB8AC3E}">
        <p14:creationId xmlns:p14="http://schemas.microsoft.com/office/powerpoint/2010/main" val="273548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710267-823B-45E7-B35A-F1FDCCD1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 xml:space="preserve"> RECOMMENDATION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F3EB4-3D84-4EB0-8E21-F7818F2A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 xml:space="preserve">Ghana Armed Forces: </a:t>
            </a:r>
            <a:r>
              <a:rPr lang="en-US" dirty="0"/>
              <a:t>set domestic readiness thresholds; formalise skills transfer; balance rotation schedules.</a:t>
            </a:r>
          </a:p>
          <a:p>
            <a:r>
              <a:rPr lang="en-US" b="1" dirty="0"/>
              <a:t xml:space="preserve">Ministry of Defence: </a:t>
            </a:r>
            <a:r>
              <a:rPr lang="en-US" dirty="0"/>
              <a:t>link deployments to threat assessments; raise the defence budget; strengthen inter-agency coordination.</a:t>
            </a:r>
          </a:p>
          <a:p>
            <a:r>
              <a:rPr lang="en-US" b="1" dirty="0"/>
              <a:t xml:space="preserve">Government &amp; policymakers: </a:t>
            </a:r>
            <a:r>
              <a:rPr lang="en-US" dirty="0"/>
              <a:t>conduct a national security review; leverage peacekeeping diplomacy; invest in post-deployment welfare.</a:t>
            </a:r>
          </a:p>
          <a:p>
            <a:r>
              <a:rPr lang="en-US" b="1" dirty="0"/>
              <a:t xml:space="preserve">UN &amp; partners: </a:t>
            </a:r>
            <a:r>
              <a:rPr lang="en-US" dirty="0"/>
              <a:t>enhance reimbursement and domestic-capacity support; strengthen border and intelligence cooperation.</a:t>
            </a:r>
          </a:p>
        </p:txBody>
      </p:sp>
    </p:spTree>
    <p:extLst>
      <p:ext uri="{BB962C8B-B14F-4D97-AF65-F5344CB8AC3E}">
        <p14:creationId xmlns:p14="http://schemas.microsoft.com/office/powerpoint/2010/main" val="38923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710267-823B-45E7-B35A-F1FDCCD1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 xml:space="preserve"> REFERENCES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F3EB4-3D84-4EB0-8E21-F7818F2A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None/>
            </a:pPr>
            <a:r>
              <a:rPr lang="en-US" sz="1200" dirty="0"/>
              <a:t>Albrecht, P., &amp; Edu-Afful, F. (2024). Peacekeeping, policing and politics: Assembling the Ghana Armed Forces. International Affairs, 100(3), 961–980.</a:t>
            </a:r>
          </a:p>
          <a:p>
            <a:pPr marL="342900" indent="-342900">
              <a:buNone/>
            </a:pPr>
            <a:r>
              <a:rPr lang="en-US" sz="1200" dirty="0"/>
              <a:t>Aning, K. (2007). Ghana and United Nations peacekeeping operations. African Journal on Conflict Resolution, 7(1), 15–34.</a:t>
            </a:r>
          </a:p>
          <a:p>
            <a:pPr marL="342900" indent="-342900">
              <a:buNone/>
            </a:pPr>
            <a:r>
              <a:rPr lang="en-US" sz="1200" dirty="0"/>
              <a:t>Aning, K., &amp; Edu-Afful, F. (2013). Ghana’s foreign policy and peacekeeping: The quest for regional stability. African Security Review, 22(4), 203–215.</a:t>
            </a:r>
          </a:p>
          <a:p>
            <a:pPr marL="342900" indent="-342900">
              <a:buNone/>
            </a:pPr>
            <a:r>
              <a:rPr lang="en-US" sz="1200" dirty="0"/>
              <a:t>Aning, K., &amp; Lartey, E. (2021). Peacekeeping and national security trade-offs in Ghana. Journal of African Security Studies, 14(2), 87–102.</a:t>
            </a:r>
          </a:p>
          <a:p>
            <a:pPr marL="342900" indent="-342900">
              <a:buNone/>
            </a:pPr>
            <a:r>
              <a:rPr lang="en-US" sz="1200" dirty="0"/>
              <a:t>Aubyn, F. K. (2022). Peacekeeping, professional development, and institutional capacity in Ghana. African Security Review, 31(2), 150–166.</a:t>
            </a:r>
          </a:p>
          <a:p>
            <a:pPr marL="342900" indent="-342900">
              <a:buNone/>
            </a:pPr>
            <a:r>
              <a:rPr lang="en-US" sz="1200" dirty="0"/>
              <a:t>Bellamy, A. J., &amp; Williams, P. D. (2010). Understanding peacekeeping. Cambridge University Press.</a:t>
            </a:r>
          </a:p>
          <a:p>
            <a:pPr marL="342900" indent="-342900">
              <a:buNone/>
            </a:pPr>
            <a:r>
              <a:rPr lang="en-US" sz="1200" dirty="0"/>
              <a:t>Coleman, K. P. (2014). The political economy of UN peacekeeping. International Studies Quarterly, 58(4), 689–700.</a:t>
            </a:r>
          </a:p>
          <a:p>
            <a:pPr marL="342900" indent="-342900">
              <a:buNone/>
            </a:pPr>
            <a:r>
              <a:rPr lang="en-US" sz="1200" dirty="0"/>
              <a:t>Salihu, N., &amp; Aning, K. (2023). Ghana Armed Forces’ contributions to African-led peace support operations from 1990 to 2020. Journal of International Peacekeeping, 26(4), 293–312.</a:t>
            </a:r>
          </a:p>
          <a:p>
            <a:pPr marL="342900" indent="-342900">
              <a:buNone/>
            </a:pPr>
            <a:r>
              <a:rPr lang="en-US" sz="1200" dirty="0"/>
              <a:t>Waltz, K. N. (1979). Theory of international politics. Addison-Wesley.</a:t>
            </a:r>
          </a:p>
          <a:p>
            <a:pPr marL="342900" indent="-342900">
              <a:buNone/>
            </a:pPr>
            <a:r>
              <a:rPr lang="en-US" sz="1200" dirty="0"/>
              <a:t>Williams, P. D. (2013). Peace operations in Africa: The political economy of troop contributions. International Peacekeeping, 20(2), 174–190.</a:t>
            </a:r>
          </a:p>
        </p:txBody>
      </p:sp>
    </p:spTree>
    <p:extLst>
      <p:ext uri="{BB962C8B-B14F-4D97-AF65-F5344CB8AC3E}">
        <p14:creationId xmlns:p14="http://schemas.microsoft.com/office/powerpoint/2010/main" val="2622584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710267-823B-45E7-B35A-F1FDCCD1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FINDINGS (2/3): READINESS &amp; CAPACITY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F3EB4-3D84-4EB0-8E21-F7818F2A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 xml:space="preserve">Professional skills development </a:t>
            </a:r>
            <a:r>
              <a:rPr lang="en-US" dirty="0"/>
              <a:t>— missions act as advanced training; skills transfer laterally to non-deployed peers.</a:t>
            </a:r>
          </a:p>
          <a:p>
            <a:r>
              <a:rPr lang="en-US" b="1" dirty="0"/>
              <a:t xml:space="preserve">Manpower strain &amp; readiness gaps </a:t>
            </a:r>
            <a:r>
              <a:rPr lang="en-US" dirty="0"/>
              <a:t>— the best personnel deploy abroad, thinning the home force during elections and crises.</a:t>
            </a:r>
          </a:p>
          <a:p>
            <a:r>
              <a:rPr lang="en-US" b="1" dirty="0"/>
              <a:t xml:space="preserve">Equipment &amp; logistical pressure </a:t>
            </a:r>
            <a:r>
              <a:rPr lang="en-US" dirty="0"/>
              <a:t>— personnel and kit compete between foreign missions and domestic needs.</a:t>
            </a:r>
          </a:p>
        </p:txBody>
      </p:sp>
    </p:spTree>
    <p:extLst>
      <p:ext uri="{BB962C8B-B14F-4D97-AF65-F5344CB8AC3E}">
        <p14:creationId xmlns:p14="http://schemas.microsoft.com/office/powerpoint/2010/main" val="101377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710267-823B-45E7-B35A-F1FDCCD1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FINDINGS (3/3): NATIONAL SECURITY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F3EB4-3D84-4EB0-8E21-F7818F2A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 xml:space="preserve">Internal security strain </a:t>
            </a:r>
            <a:r>
              <a:rPr lang="en-US" dirty="0"/>
              <a:t>— reduced surge capacity for communal conflict, electoral security and counter-narcotics.</a:t>
            </a:r>
          </a:p>
          <a:p>
            <a:r>
              <a:rPr lang="en-US" b="1" dirty="0"/>
              <a:t xml:space="preserve">Border vulnerability </a:t>
            </a:r>
            <a:r>
              <a:rPr lang="en-US" dirty="0"/>
              <a:t>— thinner patrols on northern borders amid Sahelian spillover and trafficking.</a:t>
            </a:r>
          </a:p>
          <a:p>
            <a:r>
              <a:rPr lang="en-US" b="1" dirty="0"/>
              <a:t xml:space="preserve">Dual impact </a:t>
            </a:r>
            <a:r>
              <a:rPr lang="en-US" dirty="0"/>
              <a:t>— home vulnerabilities versus diplomatic capital and regional solidarity; the net effect hinges on strategic management.</a:t>
            </a:r>
          </a:p>
        </p:txBody>
      </p:sp>
    </p:spTree>
    <p:extLst>
      <p:ext uri="{BB962C8B-B14F-4D97-AF65-F5344CB8AC3E}">
        <p14:creationId xmlns:p14="http://schemas.microsoft.com/office/powerpoint/2010/main" val="101377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96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 INTRODUCTION: BRIEF BACKGROUND </vt:lpstr>
      <vt:lpstr> PROBLEM STATEMENT </vt:lpstr>
      <vt:lpstr>RESEARCH OBJECTIVES              RESEARCH QUESTIONS</vt:lpstr>
      <vt:lpstr>SIGNIFICANCE OF STUDY              LIMITATION OF STUDY</vt:lpstr>
      <vt:lpstr>LITERATURE REVIEW THEORETICAL/CONCEPTUAL FRAMEWORK </vt:lpstr>
      <vt:lpstr>RESEARCH DESIGN AND METHODOLOGY</vt:lpstr>
      <vt:lpstr>            KEY FINDINGS AND RESULT</vt:lpstr>
      <vt:lpstr> CONCLUSION</vt:lpstr>
      <vt:lpstr> RECOMMENDATION</vt:lpstr>
      <vt:lpstr>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Courage  Ofori</dc:creator>
  <cp:lastModifiedBy>Nii Amogyan Ankamah</cp:lastModifiedBy>
  <cp:revision>6</cp:revision>
  <dcterms:created xsi:type="dcterms:W3CDTF">2024-12-10T09:36:09Z</dcterms:created>
  <dcterms:modified xsi:type="dcterms:W3CDTF">2026-05-26T14:51:30Z</dcterms:modified>
</cp:coreProperties>
</file>